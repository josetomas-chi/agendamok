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53C1"/>
    <a:srgbClr val="5606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21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5" y="3526754"/>
            <a:ext cx="121916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dirty="0" err="1">
                <a:solidFill>
                  <a:srgbClr val="FFFFFF"/>
                </a:solidFill>
                <a:latin typeface="Calibri"/>
              </a:rPr>
              <a:t>Agenda</a:t>
            </a:r>
            <a:r>
              <a:rPr sz="3600" b="1" i="0" dirty="0" err="1">
                <a:solidFill>
                  <a:srgbClr val="38BDF8"/>
                </a:solidFill>
                <a:latin typeface="Calibri"/>
              </a:rPr>
              <a:t>Mok</a:t>
            </a:r>
            <a:endParaRPr sz="3600" b="1" i="0" dirty="0">
              <a:solidFill>
                <a:srgbClr val="38BDF8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" y="4829991"/>
            <a:ext cx="121916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solidFill>
                  <a:srgbClr val="38BDF8"/>
                </a:solidFill>
                <a:latin typeface="Calibri"/>
              </a:rPr>
              <a:t>El </a:t>
            </a:r>
            <a:r>
              <a:rPr sz="2000" b="1" i="0" dirty="0" err="1">
                <a:solidFill>
                  <a:srgbClr val="38BDF8"/>
                </a:solidFill>
                <a:latin typeface="Calibri"/>
              </a:rPr>
              <a:t>verdadero</a:t>
            </a:r>
            <a:r>
              <a:rPr sz="2000" b="1" i="0" dirty="0">
                <a:solidFill>
                  <a:srgbClr val="38BDF8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38BDF8"/>
                </a:solidFill>
                <a:latin typeface="Calibri"/>
              </a:rPr>
              <a:t>Copiloto</a:t>
            </a:r>
            <a:r>
              <a:rPr sz="2000" b="1" i="0" dirty="0">
                <a:solidFill>
                  <a:srgbClr val="38BDF8"/>
                </a:solidFill>
                <a:latin typeface="Calibri"/>
              </a:rPr>
              <a:t> de </a:t>
            </a:r>
            <a:r>
              <a:rPr sz="2000" b="1" i="0" dirty="0" err="1">
                <a:solidFill>
                  <a:srgbClr val="38BDF8"/>
                </a:solidFill>
                <a:latin typeface="Calibri"/>
              </a:rPr>
              <a:t>tu</a:t>
            </a:r>
            <a:r>
              <a:rPr sz="2000" b="1" i="0" dirty="0">
                <a:solidFill>
                  <a:srgbClr val="38BDF8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38BDF8"/>
                </a:solidFill>
                <a:latin typeface="Calibri"/>
              </a:rPr>
              <a:t>negocio</a:t>
            </a:r>
            <a:endParaRPr sz="2000" b="1" i="0" dirty="0">
              <a:solidFill>
                <a:srgbClr val="38BDF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79167" y="5291763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dirty="0">
                <a:solidFill>
                  <a:srgbClr val="8E8E93"/>
                </a:solidFill>
                <a:latin typeface="Calibri"/>
              </a:rPr>
              <a:t>Plataforma de </a:t>
            </a:r>
            <a:r>
              <a:rPr sz="1500" b="0" i="0" dirty="0" err="1">
                <a:solidFill>
                  <a:srgbClr val="8E8E93"/>
                </a:solidFill>
                <a:latin typeface="Calibri"/>
              </a:rPr>
              <a:t>gestión</a:t>
            </a:r>
            <a:r>
              <a:rPr sz="1500" b="0" i="0" dirty="0">
                <a:solidFill>
                  <a:srgbClr val="8E8E93"/>
                </a:solidFill>
                <a:latin typeface="Calibri"/>
              </a:rPr>
              <a:t> de </a:t>
            </a:r>
            <a:r>
              <a:rPr sz="1500" b="0" i="0" dirty="0" err="1">
                <a:solidFill>
                  <a:srgbClr val="8E8E93"/>
                </a:solidFill>
                <a:latin typeface="Calibri"/>
              </a:rPr>
              <a:t>reservas</a:t>
            </a:r>
            <a:r>
              <a:rPr sz="1500" b="0" i="0" dirty="0">
                <a:solidFill>
                  <a:srgbClr val="8E8E93"/>
                </a:solidFill>
                <a:latin typeface="Calibri"/>
              </a:rPr>
              <a:t> y </a:t>
            </a:r>
            <a:r>
              <a:rPr sz="1500" b="0" i="0" dirty="0" err="1">
                <a:solidFill>
                  <a:srgbClr val="8E8E93"/>
                </a:solidFill>
                <a:latin typeface="Calibri"/>
              </a:rPr>
              <a:t>turnos</a:t>
            </a:r>
            <a:r>
              <a:rPr sz="1500" b="0" i="0" dirty="0">
                <a:solidFill>
                  <a:srgbClr val="8E8E93"/>
                </a:solidFill>
                <a:latin typeface="Calibri"/>
              </a:rPr>
              <a:t> para </a:t>
            </a:r>
            <a:r>
              <a:rPr sz="1500" b="0" i="0" dirty="0" err="1">
                <a:solidFill>
                  <a:srgbClr val="8E8E93"/>
                </a:solidFill>
                <a:latin typeface="Calibri"/>
              </a:rPr>
              <a:t>negocios</a:t>
            </a:r>
            <a:r>
              <a:rPr sz="1500" b="0" i="0" dirty="0">
                <a:solidFill>
                  <a:srgbClr val="8E8E93"/>
                </a:solidFill>
                <a:latin typeface="Calibri"/>
              </a:rPr>
              <a:t> de </a:t>
            </a:r>
            <a:r>
              <a:rPr sz="1500" b="0" i="0" dirty="0" err="1">
                <a:solidFill>
                  <a:srgbClr val="8E8E93"/>
                </a:solidFill>
                <a:latin typeface="Calibri"/>
              </a:rPr>
              <a:t>servicio</a:t>
            </a:r>
            <a:endParaRPr sz="1500" b="0" i="0" dirty="0">
              <a:solidFill>
                <a:srgbClr val="8E8E93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8E8E93"/>
                </a:solidFill>
                <a:latin typeface="Calibri"/>
              </a:rPr>
              <a:t>2026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3774962-B36B-D78C-D92E-A37E27464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846" y="-1017597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Panel de administración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64327" cy="2263140"/>
          </a:xfrm>
          <a:prstGeom prst="roundRect">
            <a:avLst>
              <a:gd name="adj" fmla="val 45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563624"/>
            <a:ext cx="4961991" cy="5486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2" y="1801368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loc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883664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8175" y="1783080"/>
            <a:ext cx="435848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spc="50">
                <a:solidFill>
                  <a:srgbClr val="FFFFFF"/>
                </a:solidFill>
                <a:latin typeface="Calibri"/>
              </a:rPr>
              <a:t>TURNOS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23160"/>
            <a:ext cx="4852263" cy="944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 dirty="0">
                <a:solidFill>
                  <a:srgbClr val="8E8E93"/>
                </a:solidFill>
                <a:latin typeface="Calibri"/>
              </a:rPr>
              <a:t>Vista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calendario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·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Crear/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modificar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/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cancelar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Drag &amp; drop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Filtros</a:t>
            </a:r>
            <a:endParaRPr sz="1250" b="0" i="0" dirty="0">
              <a:solidFill>
                <a:srgbClr val="8E8E93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78727" y="1417320"/>
            <a:ext cx="5364327" cy="2263140"/>
          </a:xfrm>
          <a:prstGeom prst="roundRect">
            <a:avLst>
              <a:gd name="adj" fmla="val 45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79895" y="1563624"/>
            <a:ext cx="4961991" cy="5486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34759" y="1801368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055" y="188366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8263" y="1783080"/>
            <a:ext cx="435848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spc="50">
                <a:solidFill>
                  <a:srgbClr val="FFFFFF"/>
                </a:solidFill>
                <a:latin typeface="Calibri"/>
              </a:rPr>
              <a:t>CLIENTES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2423160"/>
            <a:ext cx="4852263" cy="944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 dirty="0">
                <a:solidFill>
                  <a:srgbClr val="8E8E93"/>
                </a:solidFill>
                <a:latin typeface="Calibri"/>
              </a:rPr>
              <a:t>CRM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historial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Búsqueda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Importar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CSV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Ficha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clínica</a:t>
            </a:r>
            <a:endParaRPr sz="1250" b="0" i="0" dirty="0">
              <a:solidFill>
                <a:srgbClr val="8E8E93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4046220"/>
            <a:ext cx="5364327" cy="2263140"/>
          </a:xfrm>
          <a:prstGeom prst="roundRect">
            <a:avLst>
              <a:gd name="adj" fmla="val 45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8" y="4192524"/>
            <a:ext cx="4961991" cy="5486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672" y="443026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ta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51256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08175" y="4411980"/>
            <a:ext cx="435848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spc="50">
                <a:solidFill>
                  <a:srgbClr val="FFFFFF"/>
                </a:solidFill>
                <a:latin typeface="Calibri"/>
              </a:rPr>
              <a:t>SERVICIOS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052059"/>
            <a:ext cx="4852263" cy="703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 dirty="0">
                <a:solidFill>
                  <a:srgbClr val="8E8E93"/>
                </a:solidFill>
                <a:latin typeface="Calibri"/>
              </a:rPr>
              <a:t>CRUD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servicios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Duración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/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precio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/color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Asignación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staff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4046220"/>
            <a:ext cx="5364327" cy="2263140"/>
          </a:xfrm>
          <a:prstGeom prst="roundRect">
            <a:avLst>
              <a:gd name="adj" fmla="val 45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79895" y="4192524"/>
            <a:ext cx="4961991" cy="548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34759" y="443026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user_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055" y="4512564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38263" y="4411980"/>
            <a:ext cx="435848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spc="50">
                <a:solidFill>
                  <a:srgbClr val="FFFFFF"/>
                </a:solidFill>
                <a:latin typeface="Calibri"/>
              </a:rPr>
              <a:t>STAFF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4759" y="5052059"/>
            <a:ext cx="4852263" cy="944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 dirty="0" err="1">
                <a:solidFill>
                  <a:srgbClr val="8E8E93"/>
                </a:solidFill>
                <a:latin typeface="Calibri"/>
              </a:rPr>
              <a:t>Perfiles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profesionales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Horarios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Comisiones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Roles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Finanzas y crecimiento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454298" cy="4892040"/>
          </a:xfrm>
          <a:prstGeom prst="roundRect">
            <a:avLst>
              <a:gd name="adj" fmla="val 45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563624"/>
            <a:ext cx="3051962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2" y="1801368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redit_car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883664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8175" y="1783080"/>
            <a:ext cx="244845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spc="50">
                <a:solidFill>
                  <a:srgbClr val="FFFFFF"/>
                </a:solidFill>
                <a:latin typeface="Calibri"/>
              </a:rPr>
              <a:t>PAGOS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23160"/>
            <a:ext cx="2942234" cy="944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 dirty="0">
                <a:solidFill>
                  <a:srgbClr val="8E8E93"/>
                </a:solidFill>
                <a:latin typeface="Calibri"/>
              </a:rPr>
              <a:t>POS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cobros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manuales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Flow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integrado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Historial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Bsale</a:t>
            </a:r>
            <a:endParaRPr sz="1250" b="0" i="0" dirty="0">
              <a:solidFill>
                <a:srgbClr val="8E8E93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68698" y="1417320"/>
            <a:ext cx="3454298" cy="4892040"/>
          </a:xfrm>
          <a:prstGeom prst="roundRect">
            <a:avLst>
              <a:gd name="adj" fmla="val 45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69866" y="1563624"/>
            <a:ext cx="3051962" cy="5486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24730" y="1801368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bar_cha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026" y="188366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28234" y="1783080"/>
            <a:ext cx="244845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spc="50">
                <a:solidFill>
                  <a:srgbClr val="FFFFFF"/>
                </a:solidFill>
                <a:latin typeface="Calibri"/>
              </a:rPr>
              <a:t>REPORTES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4730" y="2423160"/>
            <a:ext cx="2942234" cy="944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 dirty="0">
                <a:solidFill>
                  <a:srgbClr val="8E8E93"/>
                </a:solidFill>
                <a:latin typeface="Calibri"/>
              </a:rPr>
              <a:t>KPIs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Gráfico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de barras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Por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profesional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Exportar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8756" y="1417320"/>
            <a:ext cx="3454298" cy="4892040"/>
          </a:xfrm>
          <a:prstGeom prst="roundRect">
            <a:avLst>
              <a:gd name="adj" fmla="val 45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89924" y="1563624"/>
            <a:ext cx="3051962" cy="54864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44788" y="1801368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megapho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7084" y="188366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8292" y="1783080"/>
            <a:ext cx="244845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spc="50">
                <a:solidFill>
                  <a:srgbClr val="FFFFFF"/>
                </a:solidFill>
                <a:latin typeface="Calibri"/>
              </a:rPr>
              <a:t>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4788" y="2423160"/>
            <a:ext cx="2942234" cy="944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 dirty="0" err="1">
                <a:solidFill>
                  <a:srgbClr val="8E8E93"/>
                </a:solidFill>
                <a:latin typeface="Calibri"/>
              </a:rPr>
              <a:t>Campañas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email/WhatsApp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Gift cards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Encuestas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Reactivación</a:t>
            </a:r>
            <a:endParaRPr sz="1250" b="0" i="0" dirty="0">
              <a:solidFill>
                <a:srgbClr val="8E8E9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Experiencia de reserva online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84167" y="1234440"/>
            <a:ext cx="4023360" cy="502920"/>
          </a:xfrm>
          <a:prstGeom prst="roundRect">
            <a:avLst>
              <a:gd name="adj" fmla="val 500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84167" y="123444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Calibri"/>
              </a:rPr>
              <a:t>agendamok.cl/book/tu-negocio</a:t>
            </a:r>
          </a:p>
        </p:txBody>
      </p:sp>
      <p:sp>
        <p:nvSpPr>
          <p:cNvPr id="6" name="Oval 5"/>
          <p:cNvSpPr/>
          <p:nvPr/>
        </p:nvSpPr>
        <p:spPr>
          <a:xfrm>
            <a:off x="1301465" y="2148840"/>
            <a:ext cx="713232" cy="71323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01465" y="214884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90088"/>
            <a:ext cx="21274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Elige servicio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6355" y="2148840"/>
            <a:ext cx="4023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8E8E93"/>
                </a:solidFill>
                <a:latin typeface="Calibri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520348" y="2148840"/>
            <a:ext cx="713232" cy="71323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348" y="214884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3243" y="2990088"/>
            <a:ext cx="21274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Escoge profesional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5238" y="2148840"/>
            <a:ext cx="4023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8E8E93"/>
                </a:solidFill>
                <a:latin typeface="Calibri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5739231" y="2148840"/>
            <a:ext cx="713232" cy="71323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39231" y="214884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2126" y="2990088"/>
            <a:ext cx="21274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Selecciona horario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121" y="2148840"/>
            <a:ext cx="4023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8E8E93"/>
                </a:solidFill>
                <a:latin typeface="Calibr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7958114" y="2148840"/>
            <a:ext cx="713232" cy="71323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8114" y="214884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009" y="2990088"/>
            <a:ext cx="21274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Paga online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004" y="2148840"/>
            <a:ext cx="4023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8E8E93"/>
                </a:solidFill>
                <a:latin typeface="Calibri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10176997" y="2148840"/>
            <a:ext cx="713232" cy="71323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76997" y="214884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9892" y="2990088"/>
            <a:ext cx="21274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Confirmación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60520"/>
            <a:ext cx="11094415" cy="1874519"/>
          </a:xfrm>
          <a:prstGeom prst="roundRect">
            <a:avLst>
              <a:gd name="adj" fmla="val 40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4400" y="4480559"/>
            <a:ext cx="310896" cy="310896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alendar_1c1c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4544568"/>
            <a:ext cx="182880" cy="182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53312" y="4462272"/>
            <a:ext cx="454136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Ver mis turnos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983479"/>
            <a:ext cx="310896" cy="310896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x_circle_1c1c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5047488"/>
            <a:ext cx="182880" cy="1828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53312" y="4965192"/>
            <a:ext cx="454136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Cancelar en línea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" y="5486400"/>
            <a:ext cx="310896" cy="310896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whatsapp_1c1c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5550408"/>
            <a:ext cx="182880" cy="1828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53312" y="5468112"/>
            <a:ext cx="454136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OG image WhatsApp</a:t>
            </a:r>
          </a:p>
        </p:txBody>
      </p:sp>
      <p:sp>
        <p:nvSpPr>
          <p:cNvPr id="35" name="Oval 34"/>
          <p:cNvSpPr/>
          <p:nvPr/>
        </p:nvSpPr>
        <p:spPr>
          <a:xfrm>
            <a:off x="6278727" y="4480559"/>
            <a:ext cx="310896" cy="310896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credit_card_1c1c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735" y="4544568"/>
            <a:ext cx="182880" cy="1828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17639" y="4462272"/>
            <a:ext cx="454136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Pago Flow</a:t>
            </a:r>
          </a:p>
        </p:txBody>
      </p:sp>
      <p:sp>
        <p:nvSpPr>
          <p:cNvPr id="38" name="Oval 37"/>
          <p:cNvSpPr/>
          <p:nvPr/>
        </p:nvSpPr>
        <p:spPr>
          <a:xfrm>
            <a:off x="6278727" y="4983479"/>
            <a:ext cx="310896" cy="310896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link_1c1c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2735" y="5047488"/>
            <a:ext cx="182880" cy="1828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17639" y="4965192"/>
            <a:ext cx="454136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Link único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965960"/>
            <a:ext cx="121916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Agenda</a:t>
            </a:r>
            <a:r>
              <a:rPr sz="4000" b="1" i="0">
                <a:solidFill>
                  <a:srgbClr val="38BDF8"/>
                </a:solidFill>
                <a:latin typeface="Calibri"/>
              </a:rPr>
              <a:t>Mok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53247" y="2084831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3035" y="2107691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spc="150" dirty="0">
                <a:solidFill>
                  <a:srgbClr val="0D1B2A"/>
                </a:solidFill>
                <a:latin typeface="Calibri"/>
              </a:rPr>
              <a:t>SPORTS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69748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0">
                <a:solidFill>
                  <a:srgbClr val="8E8E93"/>
                </a:solidFill>
                <a:latin typeface="Calibri"/>
              </a:rPr>
              <a:t>Gestión profesional para clubes deportivos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64327" y="3310128"/>
            <a:ext cx="146304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Pádel · Tenis · Fútbol · Básquetbol · Natación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12467" y="4160520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162032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racket_38bd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4361688"/>
            <a:ext cx="585216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12467" y="5193792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Pádel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49827" y="4160520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162032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tennis_ball_38bd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879" y="4361688"/>
            <a:ext cx="585216" cy="5852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49827" y="5193792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Tenis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87187" y="4160520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162032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occer_ball_38bd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239" y="4361688"/>
            <a:ext cx="585216" cy="5852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87187" y="5193792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Fútbol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24547" y="4160520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162032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basketball_38bdf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0599" y="4361688"/>
            <a:ext cx="585216" cy="5852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24547" y="5193792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Básquetbol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1907" y="4160520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162032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swimmer_38bdf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7959" y="4361688"/>
            <a:ext cx="585216" cy="5852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1907" y="5193792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Natación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B28A4F8C-9E18-C1D0-18EA-2DD383CF6D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9882" y="-309155"/>
            <a:ext cx="3852237" cy="38522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Gestión de canchas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64327" cy="2263140"/>
          </a:xfrm>
          <a:prstGeom prst="roundRect">
            <a:avLst>
              <a:gd name="adj" fmla="val 4500"/>
            </a:avLst>
          </a:prstGeom>
          <a:solidFill>
            <a:srgbClr val="162032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563624"/>
            <a:ext cx="4961991" cy="5486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2" y="1801368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our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883664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8175" y="1783080"/>
            <a:ext cx="435848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spc="50">
                <a:solidFill>
                  <a:srgbClr val="FFFFFF"/>
                </a:solidFill>
                <a:latin typeface="Calibri"/>
              </a:rPr>
              <a:t>CANCHAS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23160"/>
            <a:ext cx="4852263" cy="1057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dirty="0">
                <a:solidFill>
                  <a:schemeClr val="bg1">
                    <a:lumMod val="85000"/>
                  </a:schemeClr>
                </a:solidFill>
                <a:latin typeface="Calibri"/>
              </a:rPr>
              <a:t>Nombre y color </a:t>
            </a:r>
            <a:br>
              <a:rPr lang="es-CL" sz="1400" b="0" i="0" dirty="0">
                <a:solidFill>
                  <a:schemeClr val="bg1">
                    <a:lumMod val="85000"/>
                  </a:schemeClr>
                </a:solidFill>
                <a:latin typeface="Calibri"/>
              </a:rPr>
            </a:br>
            <a:r>
              <a:rPr sz="1400" b="0" i="0" dirty="0">
                <a:solidFill>
                  <a:schemeClr val="bg1">
                    <a:lumMod val="85000"/>
                  </a:schemeClr>
                </a:solidFill>
                <a:latin typeface="Calibri"/>
              </a:rPr>
              <a:t>· Logo sponsor </a:t>
            </a:r>
            <a:br>
              <a:rPr lang="es-CL" sz="1400" b="0" i="0" dirty="0">
                <a:solidFill>
                  <a:schemeClr val="bg1">
                    <a:lumMod val="85000"/>
                  </a:schemeClr>
                </a:solidFill>
                <a:latin typeface="Calibri"/>
              </a:rPr>
            </a:br>
            <a:r>
              <a:rPr sz="1400" b="0" i="0" dirty="0">
                <a:solidFill>
                  <a:schemeClr val="bg1">
                    <a:lumMod val="85000"/>
                  </a:schemeClr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chemeClr val="bg1">
                    <a:lumMod val="85000"/>
                  </a:schemeClr>
                </a:solidFill>
                <a:latin typeface="Calibri"/>
              </a:rPr>
              <a:t>Activar</a:t>
            </a:r>
            <a:r>
              <a:rPr sz="1400" b="0" i="0" dirty="0">
                <a:solidFill>
                  <a:schemeClr val="bg1">
                    <a:lumMod val="85000"/>
                  </a:schemeClr>
                </a:solidFill>
                <a:latin typeface="Calibri"/>
              </a:rPr>
              <a:t>/</a:t>
            </a:r>
            <a:r>
              <a:rPr sz="1400" b="0" i="0" dirty="0" err="1">
                <a:solidFill>
                  <a:schemeClr val="bg1">
                    <a:lumMod val="85000"/>
                  </a:schemeClr>
                </a:solidFill>
                <a:latin typeface="Calibri"/>
              </a:rPr>
              <a:t>desactivar</a:t>
            </a:r>
            <a:r>
              <a:rPr sz="1400" b="0" i="0" dirty="0">
                <a:solidFill>
                  <a:schemeClr val="bg1">
                    <a:lumMod val="85000"/>
                  </a:schemeClr>
                </a:solidFill>
                <a:latin typeface="Calibri"/>
              </a:rPr>
              <a:t> </a:t>
            </a:r>
            <a:br>
              <a:rPr lang="es-CL" sz="1400" b="0" i="0" dirty="0">
                <a:solidFill>
                  <a:schemeClr val="bg1">
                    <a:lumMod val="85000"/>
                  </a:schemeClr>
                </a:solidFill>
                <a:latin typeface="Calibri"/>
              </a:rPr>
            </a:br>
            <a:r>
              <a:rPr sz="1400" b="0" i="0" dirty="0">
                <a:solidFill>
                  <a:schemeClr val="bg1">
                    <a:lumMod val="85000"/>
                  </a:schemeClr>
                </a:solidFill>
                <a:latin typeface="Calibri"/>
              </a:rPr>
              <a:t>· Multi-</a:t>
            </a:r>
            <a:r>
              <a:rPr sz="1400" b="0" i="0" dirty="0" err="1">
                <a:solidFill>
                  <a:schemeClr val="bg1">
                    <a:lumMod val="85000"/>
                  </a:schemeClr>
                </a:solidFill>
                <a:latin typeface="Calibri"/>
              </a:rPr>
              <a:t>deporte</a:t>
            </a:r>
            <a:endParaRPr sz="1400" b="0" i="0" dirty="0">
              <a:solidFill>
                <a:schemeClr val="bg1">
                  <a:lumMod val="85000"/>
                </a:schemeClr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78727" y="1417320"/>
            <a:ext cx="5364327" cy="2263140"/>
          </a:xfrm>
          <a:prstGeom prst="roundRect">
            <a:avLst>
              <a:gd name="adj" fmla="val 4500"/>
            </a:avLst>
          </a:prstGeom>
          <a:solidFill>
            <a:srgbClr val="162032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79895" y="1563624"/>
            <a:ext cx="4961991" cy="548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34759" y="180136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doll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055" y="188366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8263" y="1783080"/>
            <a:ext cx="435848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spc="50">
                <a:solidFill>
                  <a:srgbClr val="FFFFFF"/>
                </a:solidFill>
                <a:latin typeface="Calibri"/>
              </a:rPr>
              <a:t>PRECIOS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2423160"/>
            <a:ext cx="4852263" cy="1057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dirty="0" err="1">
                <a:solidFill>
                  <a:schemeClr val="bg1"/>
                </a:solidFill>
                <a:latin typeface="Calibri"/>
              </a:rPr>
              <a:t>Tarifas</a:t>
            </a:r>
            <a:r>
              <a:rPr sz="14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Calibri"/>
              </a:rPr>
              <a:t>por</a:t>
            </a:r>
            <a:r>
              <a:rPr sz="1400" b="0" i="0" dirty="0">
                <a:solidFill>
                  <a:schemeClr val="bg1"/>
                </a:solidFill>
                <a:latin typeface="Calibri"/>
              </a:rPr>
              <a:t> día </a:t>
            </a:r>
            <a:br>
              <a:rPr lang="es-CL" sz="1400" b="0" i="0" dirty="0">
                <a:solidFill>
                  <a:schemeClr val="bg1"/>
                </a:solidFill>
                <a:latin typeface="Calibri"/>
              </a:rPr>
            </a:br>
            <a:r>
              <a:rPr sz="1400" b="0" i="0" dirty="0">
                <a:solidFill>
                  <a:schemeClr val="bg1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chemeClr val="bg1"/>
                </a:solidFill>
                <a:latin typeface="Calibri"/>
              </a:rPr>
              <a:t>Bloques</a:t>
            </a:r>
            <a:r>
              <a:rPr sz="1400" b="0" i="0" dirty="0">
                <a:solidFill>
                  <a:schemeClr val="bg1"/>
                </a:solidFill>
                <a:latin typeface="Calibri"/>
              </a:rPr>
              <a:t> 60/90/120 min </a:t>
            </a:r>
            <a:br>
              <a:rPr lang="es-CL" sz="1400" b="0" i="0" dirty="0">
                <a:solidFill>
                  <a:schemeClr val="bg1"/>
                </a:solidFill>
                <a:latin typeface="Calibri"/>
              </a:rPr>
            </a:br>
            <a:r>
              <a:rPr sz="1400" b="0" i="0" dirty="0">
                <a:solidFill>
                  <a:schemeClr val="bg1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chemeClr val="bg1"/>
                </a:solidFill>
                <a:latin typeface="Calibri"/>
              </a:rPr>
              <a:t>Precio</a:t>
            </a:r>
            <a:r>
              <a:rPr sz="14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Calibri"/>
              </a:rPr>
              <a:t>por</a:t>
            </a:r>
            <a:r>
              <a:rPr sz="14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Calibri"/>
              </a:rPr>
              <a:t>bloque</a:t>
            </a:r>
            <a:r>
              <a:rPr sz="1400" b="0" i="0" dirty="0">
                <a:solidFill>
                  <a:schemeClr val="bg1"/>
                </a:solidFill>
                <a:latin typeface="Calibri"/>
              </a:rPr>
              <a:t> </a:t>
            </a:r>
            <a:br>
              <a:rPr lang="es-CL" sz="1400" b="0" i="0" dirty="0">
                <a:solidFill>
                  <a:schemeClr val="bg1"/>
                </a:solidFill>
                <a:latin typeface="Calibri"/>
              </a:rPr>
            </a:br>
            <a:r>
              <a:rPr sz="1400" b="0" i="0" dirty="0">
                <a:solidFill>
                  <a:schemeClr val="bg1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chemeClr val="bg1"/>
                </a:solidFill>
                <a:latin typeface="Calibri"/>
              </a:rPr>
              <a:t>Múltiples</a:t>
            </a:r>
            <a:r>
              <a:rPr sz="14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Calibri"/>
              </a:rPr>
              <a:t>reglas</a:t>
            </a:r>
            <a:endParaRPr sz="14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4046220"/>
            <a:ext cx="5364327" cy="2263140"/>
          </a:xfrm>
          <a:prstGeom prst="roundRect">
            <a:avLst>
              <a:gd name="adj" fmla="val 4500"/>
            </a:avLst>
          </a:prstGeom>
          <a:solidFill>
            <a:srgbClr val="162032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8" y="4192524"/>
            <a:ext cx="4961991" cy="5486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672" y="443026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alend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51256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08175" y="4411980"/>
            <a:ext cx="435848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spc="50">
                <a:solidFill>
                  <a:srgbClr val="FFFFFF"/>
                </a:solidFill>
                <a:latin typeface="Calibri"/>
              </a:rPr>
              <a:t>CALENDARIO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052059"/>
            <a:ext cx="4852263" cy="944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 dirty="0">
                <a:solidFill>
                  <a:srgbClr val="8E8E93"/>
                </a:solidFill>
                <a:latin typeface="Calibri"/>
              </a:rPr>
              <a:t>Vista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semanal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Slots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bloqueados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Drag &amp; drop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Tiempo real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4046220"/>
            <a:ext cx="5364327" cy="2263140"/>
          </a:xfrm>
          <a:prstGeom prst="roundRect">
            <a:avLst>
              <a:gd name="adj" fmla="val 4500"/>
            </a:avLst>
          </a:prstGeom>
          <a:solidFill>
            <a:srgbClr val="162032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79895" y="4192524"/>
            <a:ext cx="4961991" cy="5486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34759" y="4430268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aw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055" y="4512564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38263" y="4411980"/>
            <a:ext cx="435848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spc="50">
                <a:solidFill>
                  <a:srgbClr val="FFFFFF"/>
                </a:solidFill>
                <a:latin typeface="Calibri"/>
              </a:rPr>
              <a:t>MEMBRESÍAS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4759" y="5052059"/>
            <a:ext cx="4852263" cy="703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 dirty="0">
                <a:solidFill>
                  <a:srgbClr val="8E8E93"/>
                </a:solidFill>
                <a:latin typeface="Calibri"/>
              </a:rPr>
              <a:t>Socios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Descuentos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automáticos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</a:t>
            </a:r>
            <a:br>
              <a:rPr lang="es-CL" sz="1250" b="0" i="0" dirty="0">
                <a:solidFill>
                  <a:srgbClr val="8E8E93"/>
                </a:solidFill>
                <a:latin typeface="Calibri"/>
              </a:rPr>
            </a:br>
            <a:r>
              <a:rPr sz="1250" b="0" i="0" dirty="0">
                <a:solidFill>
                  <a:srgbClr val="8E8E93"/>
                </a:solidFill>
                <a:latin typeface="Calibri"/>
              </a:rPr>
              <a:t>·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Historial</a:t>
            </a:r>
            <a:r>
              <a:rPr sz="1250" b="0" i="0" dirty="0">
                <a:solidFill>
                  <a:srgbClr val="8E8E93"/>
                </a:solidFill>
                <a:latin typeface="Calibri"/>
              </a:rPr>
              <a:t> de </a:t>
            </a:r>
            <a:r>
              <a:rPr sz="1250" b="0" i="0" dirty="0" err="1">
                <a:solidFill>
                  <a:srgbClr val="8E8E93"/>
                </a:solidFill>
                <a:latin typeface="Calibri"/>
              </a:rPr>
              <a:t>cuotas</a:t>
            </a:r>
            <a:endParaRPr sz="1250" b="0" i="0" dirty="0">
              <a:solidFill>
                <a:srgbClr val="8E8E9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Experiencia de reserva de canchas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84167" y="1234440"/>
            <a:ext cx="4023360" cy="502920"/>
          </a:xfrm>
          <a:prstGeom prst="roundRect">
            <a:avLst>
              <a:gd name="adj" fmla="val 50000"/>
            </a:avLst>
          </a:prstGeom>
          <a:solidFill>
            <a:srgbClr val="162032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84167" y="123444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Calibri"/>
              </a:rPr>
              <a:t>agendamok.cl/book/mi-club</a:t>
            </a:r>
          </a:p>
        </p:txBody>
      </p:sp>
      <p:sp>
        <p:nvSpPr>
          <p:cNvPr id="6" name="Oval 5"/>
          <p:cNvSpPr/>
          <p:nvPr/>
        </p:nvSpPr>
        <p:spPr>
          <a:xfrm>
            <a:off x="1301465" y="2148840"/>
            <a:ext cx="713232" cy="71323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01465" y="214884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90088"/>
            <a:ext cx="21274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Elige deporte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6355" y="2148840"/>
            <a:ext cx="4023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8E8E93"/>
                </a:solidFill>
                <a:latin typeface="Calibri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520348" y="2148840"/>
            <a:ext cx="713232" cy="71323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348" y="214884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3243" y="2990088"/>
            <a:ext cx="21274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Selecciona fecha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5238" y="2148840"/>
            <a:ext cx="4023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8E8E93"/>
                </a:solidFill>
                <a:latin typeface="Calibri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5739231" y="2148840"/>
            <a:ext cx="713232" cy="71323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39231" y="214884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2126" y="2990088"/>
            <a:ext cx="21274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Elige horario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121" y="2148840"/>
            <a:ext cx="4023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8E8E93"/>
                </a:solidFill>
                <a:latin typeface="Calibr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7958114" y="2148840"/>
            <a:ext cx="713232" cy="71323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8114" y="214884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009" y="2990088"/>
            <a:ext cx="21274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Paga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004" y="2148840"/>
            <a:ext cx="4023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8E8E93"/>
                </a:solidFill>
                <a:latin typeface="Calibri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10176997" y="2148840"/>
            <a:ext cx="713232" cy="713232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76997" y="214884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9892" y="2990088"/>
            <a:ext cx="21274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Confirmación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343400"/>
            <a:ext cx="2533573" cy="1691640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563966" y="4599432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ayers_0d1b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406" y="4690872"/>
            <a:ext cx="320040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8368" y="5257800"/>
            <a:ext cx="231411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Multi-deporte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02253" y="4343400"/>
            <a:ext cx="2533573" cy="1691640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17580" y="4599432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credit_card_0d1b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020" y="4690872"/>
            <a:ext cx="320040" cy="3200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511981" y="5257800"/>
            <a:ext cx="231411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Pago con transferencia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55867" y="4343400"/>
            <a:ext cx="2533573" cy="1691640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271194" y="459943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gift_0d1b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634" y="4690872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365595" y="5257800"/>
            <a:ext cx="231411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Cortesía admin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09481" y="4343400"/>
            <a:ext cx="2533573" cy="1691640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124808" y="4599432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whatsapp_0d1b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6248" y="4690872"/>
            <a:ext cx="320040" cy="32004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219209" y="5257800"/>
            <a:ext cx="231411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Preview WhatsApp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Calibri"/>
              </a:rPr>
              <a:t>Automatizaciones incluidas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454298" cy="1920240"/>
          </a:xfrm>
          <a:prstGeom prst="roundRect">
            <a:avLst>
              <a:gd name="adj" fmla="val 60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2103120"/>
            <a:ext cx="548640" cy="548640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hatsapp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203704"/>
            <a:ext cx="347472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36192" y="2138111"/>
            <a:ext cx="2283866" cy="4786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 dirty="0">
                <a:solidFill>
                  <a:srgbClr val="FFFFFF"/>
                </a:solidFill>
                <a:latin typeface="Calibri"/>
              </a:rPr>
              <a:t>WhatsApp 24h antes</a:t>
            </a:r>
            <a:br>
              <a:rPr lang="es-CL" sz="1450" b="1" i="0" dirty="0">
                <a:solidFill>
                  <a:srgbClr val="FFFFFF"/>
                </a:solidFill>
                <a:latin typeface="Calibri"/>
              </a:rPr>
            </a:br>
            <a:r>
              <a:rPr lang="es-CL" sz="1450" b="1" i="0" dirty="0">
                <a:solidFill>
                  <a:srgbClr val="FFFFFF"/>
                </a:solidFill>
                <a:latin typeface="Calibri"/>
              </a:rPr>
              <a:t>Servicio adicional</a:t>
            </a:r>
            <a:endParaRPr sz="145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68698" y="1417320"/>
            <a:ext cx="3454298" cy="1920240"/>
          </a:xfrm>
          <a:prstGeom prst="roundRect">
            <a:avLst>
              <a:gd name="adj" fmla="val 60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24730" y="210312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ai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314" y="2203704"/>
            <a:ext cx="347472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56250" y="1417320"/>
            <a:ext cx="2283866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Email 1h antes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756" y="1417320"/>
            <a:ext cx="3454298" cy="1920240"/>
          </a:xfrm>
          <a:prstGeom prst="roundRect">
            <a:avLst>
              <a:gd name="adj" fmla="val 60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44788" y="2103120"/>
            <a:ext cx="548640" cy="54864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bar_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372" y="2203704"/>
            <a:ext cx="347472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76308" y="1417320"/>
            <a:ext cx="2283866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Resumen diario al dueño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3454298" cy="1920240"/>
          </a:xfrm>
          <a:prstGeom prst="roundRect">
            <a:avLst>
              <a:gd name="adj" fmla="val 60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04672" y="43434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refres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443984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36192" y="3657600"/>
            <a:ext cx="2283866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Reactivación clientes inactivos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8698" y="3657600"/>
            <a:ext cx="3454298" cy="1920240"/>
          </a:xfrm>
          <a:prstGeom prst="roundRect">
            <a:avLst>
              <a:gd name="adj" fmla="val 60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24730" y="43434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check_circ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5314" y="4443984"/>
            <a:ext cx="347472" cy="3474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56250" y="3657600"/>
            <a:ext cx="2283866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Confirmación automática 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8756" y="3657600"/>
            <a:ext cx="3454298" cy="1920240"/>
          </a:xfrm>
          <a:prstGeom prst="roundRect">
            <a:avLst>
              <a:gd name="adj" fmla="val 60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44788" y="4343400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sync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5372" y="4443984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76308" y="3657600"/>
            <a:ext cx="2283866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Google Calendar sync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5897880"/>
            <a:ext cx="121916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 err="1">
                <a:solidFill>
                  <a:srgbClr val="38BDF8"/>
                </a:solidFill>
                <a:latin typeface="Calibri"/>
              </a:rPr>
              <a:t>Todas</a:t>
            </a:r>
            <a:r>
              <a:rPr sz="1600" b="1" i="0" dirty="0">
                <a:solidFill>
                  <a:srgbClr val="38BDF8"/>
                </a:solidFill>
                <a:latin typeface="Calibri"/>
              </a:rPr>
              <a:t> incluidas </a:t>
            </a:r>
            <a:r>
              <a:rPr sz="1600" b="1" i="0" dirty="0" err="1">
                <a:solidFill>
                  <a:srgbClr val="38BDF8"/>
                </a:solidFill>
                <a:latin typeface="Calibri"/>
              </a:rPr>
              <a:t>desde</a:t>
            </a:r>
            <a:r>
              <a:rPr sz="1600" b="1" i="0" dirty="0">
                <a:solidFill>
                  <a:srgbClr val="38BDF8"/>
                </a:solidFill>
                <a:latin typeface="Calibri"/>
              </a:rPr>
              <a:t> el primer día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Planes y cierre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6703" y="1417320"/>
            <a:ext cx="18288" cy="3566160"/>
          </a:xfrm>
          <a:prstGeom prst="rect">
            <a:avLst/>
          </a:prstGeom>
          <a:solidFill>
            <a:srgbClr val="3A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9985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Agenda</a:t>
            </a:r>
            <a:r>
              <a:rPr sz="2200" b="1" i="0">
                <a:solidFill>
                  <a:srgbClr val="38BDF8"/>
                </a:solidFill>
                <a:latin typeface="Calibri"/>
              </a:rPr>
              <a:t>Mok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4998567" cy="777240"/>
          </a:xfrm>
          <a:prstGeom prst="roundRect">
            <a:avLst>
              <a:gd name="adj" fmla="val 90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4992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92131"/>
            <a:ext cx="472424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2000" b="1" dirty="0">
                <a:solidFill>
                  <a:srgbClr val="FFFFFF"/>
                </a:solidFill>
                <a:latin typeface="Calibri"/>
              </a:rPr>
              <a:t>0,3 UF/mes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2980944"/>
            <a:ext cx="4998567" cy="777240"/>
          </a:xfrm>
          <a:prstGeom prst="roundRect">
            <a:avLst>
              <a:gd name="adj" fmla="val 9000"/>
            </a:avLst>
          </a:prstGeom>
          <a:solidFill>
            <a:srgbClr val="38BDF8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72384"/>
            <a:ext cx="444992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20" dirty="0">
                <a:solidFill>
                  <a:srgbClr val="1C1C1E"/>
                </a:solidFill>
                <a:latin typeface="Calibri"/>
              </a:rPr>
              <a:t>RECOMENDADO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1"/>
            <a:ext cx="249928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C1C1E"/>
                </a:solidFill>
                <a:latin typeface="Calibri"/>
              </a:rPr>
              <a:t>Negocio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5111"/>
            <a:ext cx="472424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2000" b="1" dirty="0">
                <a:solidFill>
                  <a:srgbClr val="1C1C1E"/>
                </a:solidFill>
                <a:latin typeface="Calibri"/>
              </a:rPr>
              <a:t>0,7 UF/mes</a:t>
            </a:r>
            <a:endParaRPr sz="2000" b="1" i="0" dirty="0">
              <a:solidFill>
                <a:srgbClr val="1C1C1E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904487"/>
            <a:ext cx="4998567" cy="777240"/>
          </a:xfrm>
          <a:prstGeom prst="roundRect">
            <a:avLst>
              <a:gd name="adj" fmla="val 9000"/>
            </a:avLst>
          </a:prstGeom>
          <a:solidFill>
            <a:srgbClr val="2C2C30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7"/>
            <a:ext cx="24992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39218"/>
            <a:ext cx="472424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2000" b="1" dirty="0">
                <a:solidFill>
                  <a:srgbClr val="FFFFFF"/>
                </a:solidFill>
                <a:latin typeface="Calibri"/>
              </a:rPr>
              <a:t>1,1 UF/mes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53047" y="1417320"/>
            <a:ext cx="49985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 dirty="0" err="1">
                <a:solidFill>
                  <a:srgbClr val="FFFFFF"/>
                </a:solidFill>
                <a:latin typeface="Calibri"/>
              </a:rPr>
              <a:t>Agenda</a:t>
            </a:r>
            <a:r>
              <a:rPr sz="2200" b="1" i="0" dirty="0" err="1">
                <a:solidFill>
                  <a:srgbClr val="8B5CF6"/>
                </a:solidFill>
                <a:latin typeface="Calibri"/>
              </a:rPr>
              <a:t>Mok</a:t>
            </a:r>
            <a:r>
              <a:rPr sz="2200" b="1" i="0" dirty="0">
                <a:solidFill>
                  <a:srgbClr val="8B5CF6"/>
                </a:solidFill>
                <a:latin typeface="Calibri"/>
              </a:rPr>
              <a:t> Sports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7367" y="3273551"/>
            <a:ext cx="249928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C1C1E"/>
                </a:solidFill>
                <a:latin typeface="Calibri"/>
              </a:rPr>
              <a:t>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47" y="3273551"/>
            <a:ext cx="4724247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 dirty="0">
                <a:solidFill>
                  <a:srgbClr val="1C1C1E"/>
                </a:solidFill>
                <a:latin typeface="Calibri"/>
              </a:rPr>
              <a:t>$39.900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3047" y="2973358"/>
            <a:ext cx="4998567" cy="777240"/>
          </a:xfrm>
          <a:prstGeom prst="roundRect">
            <a:avLst>
              <a:gd name="adj" fmla="val 9000"/>
            </a:avLst>
          </a:prstGeom>
          <a:solidFill>
            <a:srgbClr val="F353C1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062025" y="2980943"/>
            <a:ext cx="24992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0206" y="3191307"/>
            <a:ext cx="472424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2000" b="1" dirty="0">
                <a:solidFill>
                  <a:srgbClr val="FFFFFF"/>
                </a:solidFill>
                <a:latin typeface="Calibri"/>
              </a:rPr>
              <a:t>1,1 UF/mes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8640" y="5257800"/>
            <a:ext cx="11094415" cy="685800"/>
          </a:xfrm>
          <a:prstGeom prst="roundRect">
            <a:avLst>
              <a:gd name="adj" fmla="val 14000"/>
            </a:avLst>
          </a:prstGeom>
          <a:solidFill>
            <a:srgbClr val="0EA5E9"/>
          </a:solidFill>
          <a:ln>
            <a:noFill/>
          </a:ln>
          <a:effectLst>
            <a:outerShdw blurRad="90000" dist="28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525780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30 días gratis  ·  Sin tarjeta  ·  Sin cobros sorpresa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6108192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8E8E93"/>
                </a:solidFill>
                <a:latin typeface="Calibri"/>
              </a:rPr>
              <a:t>agendamok.cl  ·  contacto@agendamok.cl</a:t>
            </a:r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B51996D9-7B77-1D8E-B26B-76120D65F041}"/>
              </a:ext>
            </a:extLst>
          </p:cNvPr>
          <p:cNvSpPr txBox="1"/>
          <p:nvPr/>
        </p:nvSpPr>
        <p:spPr>
          <a:xfrm>
            <a:off x="7062025" y="3072384"/>
            <a:ext cx="4449927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950" b="1" i="0" spc="120" dirty="0">
                <a:solidFill>
                  <a:schemeClr val="bg1"/>
                </a:solidFill>
                <a:latin typeface="Calibri"/>
              </a:rPr>
              <a:t>PLAN UNICO</a:t>
            </a:r>
            <a:endParaRPr sz="950" b="1" i="0" spc="12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372</Words>
  <Application>Microsoft Office PowerPoint</Application>
  <PresentationFormat>Panorámica</PresentationFormat>
  <Paragraphs>104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Jose Tomás Del Rio</cp:lastModifiedBy>
  <cp:revision>2</cp:revision>
  <dcterms:created xsi:type="dcterms:W3CDTF">2013-01-27T09:14:16Z</dcterms:created>
  <dcterms:modified xsi:type="dcterms:W3CDTF">2026-07-20T19:08:18Z</dcterms:modified>
  <cp:category/>
</cp:coreProperties>
</file>